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82DCD6"/>
                </a:solidFill>
                <a:latin typeface="Aptos"/>
              </a:defRPr>
            </a:pPr>
            <a:r>
              <a:t>DEPI  |  MODERN DATA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FUNNELVISION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231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 b="0">
                <a:solidFill>
                  <a:srgbClr val="D2E1F1"/>
                </a:solidFill>
                <a:latin typeface="Aptos"/>
              </a:defRPr>
            </a:pPr>
            <a:r>
              <a:t>E-Commerce Marketing Funnel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AABED4"/>
                </a:solidFill>
                <a:latin typeface="Aptos"/>
              </a:defRPr>
            </a:pPr>
            <a:r>
              <a:t>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Al-Hassan Mohammed Hassan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D2E1F1"/>
                </a:solidFill>
                <a:latin typeface="Aptos"/>
              </a:defRPr>
            </a:pPr>
            <a:r>
              <a:t>Instructor: Mohamed 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80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AABED4"/>
                </a:solidFill>
                <a:latin typeface="Aptos"/>
              </a:defRPr>
            </a:pPr>
            <a:r>
              <a:t>Snowflake  •  dbt  •  Apache Airflow  •  Streamlit  • 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2342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97787"/>
                </a:solidFill>
                <a:latin typeface="Aptos"/>
              </a:defRPr>
            </a:pPr>
            <a:r>
              <a:t>Turning raw e-commerce data into analytics-ready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822960" cy="54864"/>
          </a:xfrm>
          <a:prstGeom prst="rect">
            <a:avLst/>
          </a:prstGeom>
          <a:solidFill>
            <a:srgbClr val="1F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9778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2900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28800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C69BA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13432"/>
            <a:ext cx="3099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342"/>
                </a:solidFill>
                <a:latin typeface="Aptos"/>
              </a:defRPr>
            </a:pPr>
            <a:r>
              <a:t>Raw business data is difficult to use directly for consistent reporting.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42900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828800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F9E96"/>
                </a:solidFill>
                <a:latin typeface="Aptos"/>
              </a:defRPr>
            </a:pPr>
            <a:r>
              <a:t>THE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313432"/>
            <a:ext cx="3099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342"/>
                </a:solidFill>
                <a:latin typeface="Aptos"/>
              </a:defRPr>
            </a:pPr>
            <a:r>
              <a:t>Build a repeatable pipeline for ingestion, transformation, testing, and visualization.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91640"/>
            <a:ext cx="342900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828800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E973D"/>
                </a:solidFill>
                <a:latin typeface="Aptos"/>
              </a:defRPr>
            </a:pPr>
            <a:r>
              <a:t>THE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313432"/>
            <a:ext cx="3099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342"/>
                </a:solidFill>
                <a:latin typeface="Aptos"/>
              </a:defRPr>
            </a:pPr>
            <a:r>
              <a:t>Provide organized analytical datasets and an interactive dashboard.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6908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73342"/>
                </a:solidFill>
                <a:latin typeface="Aptos"/>
              </a:defRPr>
            </a:pPr>
            <a:r>
              <a:t>•  Focus: e-commerce marketing and performance analytics</a:t>
            </a:r>
          </a:p>
          <a:p>
            <a:pPr>
              <a:spcAft>
                <a:spcPts val="700"/>
              </a:spcAft>
              <a:defRPr sz="1800" b="0">
                <a:solidFill>
                  <a:srgbClr val="273342"/>
                </a:solidFill>
                <a:latin typeface="Aptos"/>
              </a:defRPr>
            </a:pPr>
            <a:r>
              <a:t>•  Demonstrates a practical Modern Data Stack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2342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97787"/>
                </a:solidFill>
                <a:latin typeface="Aptos"/>
              </a:defRPr>
            </a:pPr>
            <a:r>
              <a:t>What FunnelVision is designed to demonstrate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822960" cy="54864"/>
          </a:xfrm>
          <a:prstGeom prst="rect">
            <a:avLst/>
          </a:prstGeom>
          <a:solidFill>
            <a:srgbClr val="1F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9778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41732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874519"/>
            <a:ext cx="3054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C69BA"/>
                </a:solidFill>
                <a:latin typeface="Aptos"/>
              </a:defRPr>
            </a:pPr>
            <a:r>
              <a:t>CENTRALIZE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59152"/>
            <a:ext cx="30540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342"/>
                </a:solidFill>
                <a:latin typeface="Aptos"/>
              </a:defRPr>
            </a:pPr>
            <a:r>
              <a:t>Load source CSV data into Snowflake.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737360"/>
            <a:ext cx="3383280" cy="141732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1874519"/>
            <a:ext cx="3054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F9E96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2359152"/>
            <a:ext cx="30540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342"/>
                </a:solidFill>
                <a:latin typeface="Aptos"/>
              </a:defRPr>
            </a:pPr>
            <a:r>
              <a:t>Organize data into dbt model layers.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737360"/>
            <a:ext cx="3383280" cy="141732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31352" y="1874519"/>
            <a:ext cx="3054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E973D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1352" y="2359152"/>
            <a:ext cx="30540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342"/>
                </a:solidFill>
                <a:latin typeface="Aptos"/>
              </a:defRPr>
            </a:pPr>
            <a:r>
              <a:t>Run data quality tests.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657600"/>
            <a:ext cx="3383280" cy="141732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794760"/>
            <a:ext cx="3054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C69BA"/>
                </a:solidFill>
                <a:latin typeface="Aptos"/>
              </a:defRPr>
            </a:pPr>
            <a:r>
              <a:t>ORCHESTRATE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279392"/>
            <a:ext cx="30540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342"/>
                </a:solidFill>
                <a:latin typeface="Aptos"/>
              </a:defRPr>
            </a:pPr>
            <a:r>
              <a:t>Run transformations before tests with Airflow.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657600"/>
            <a:ext cx="3383280" cy="141732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6592" y="3794760"/>
            <a:ext cx="3054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F9E96"/>
                </a:solidFill>
                <a:latin typeface="Aptos"/>
              </a:defRPr>
            </a:pPr>
            <a:r>
              <a:t>VISUALIZE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4279392"/>
            <a:ext cx="30540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342"/>
                </a:solidFill>
                <a:latin typeface="Aptos"/>
              </a:defRPr>
            </a:pPr>
            <a:r>
              <a:t>Explore KPIs and charts in Streamlit.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0872" y="3794760"/>
            <a:ext cx="3054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F9E96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0872" y="4279392"/>
            <a:ext cx="30540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342"/>
                </a:solidFill>
                <a:latin typeface="Aptos"/>
              </a:defRPr>
            </a:pPr>
            <a:r>
              <a:t>A documented, containerized analytics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2342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97787"/>
                </a:solidFill>
                <a:latin typeface="Aptos"/>
              </a:defRPr>
            </a:pPr>
            <a:r>
              <a:t>High-level flow from source files to business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822960" cy="54864"/>
          </a:xfrm>
          <a:prstGeom prst="rect">
            <a:avLst/>
          </a:prstGeom>
          <a:solidFill>
            <a:srgbClr val="1F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9778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2212848" cy="1965960"/>
          </a:xfrm>
          <a:prstGeom prst="roundRect">
            <a:avLst/>
          </a:prstGeom>
          <a:solidFill>
            <a:srgbClr val="EFF5FB"/>
          </a:solidFill>
          <a:ln>
            <a:solidFill>
              <a:srgbClr val="2C69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331720"/>
            <a:ext cx="19933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12342"/>
                </a:solidFill>
                <a:latin typeface="Aptos"/>
              </a:defRPr>
            </a:pPr>
            <a:r>
              <a:t>01  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97180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73342"/>
                </a:solidFill>
                <a:latin typeface="Aptos"/>
              </a:defRPr>
            </a:pPr>
            <a:r>
              <a:t>E-commerce CSV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7889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F9E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62072" y="2103120"/>
            <a:ext cx="2212848" cy="1965960"/>
          </a:xfrm>
          <a:prstGeom prst="roundRect">
            <a:avLst/>
          </a:prstGeom>
          <a:solidFill>
            <a:srgbClr val="EFF5FB"/>
          </a:solidFill>
          <a:ln>
            <a:solidFill>
              <a:srgbClr val="1F9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2331720"/>
            <a:ext cx="19933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12342"/>
                </a:solidFill>
                <a:latin typeface="Aptos"/>
              </a:defRPr>
            </a:pPr>
            <a:r>
              <a:t>02  WAREHOUSE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8376" y="297180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73342"/>
                </a:solidFill>
                <a:latin typeface="Aptos"/>
              </a:defRPr>
            </a:pPr>
            <a:r>
              <a:t>Snowflake • RAW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6631" y="27889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F9E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21224" y="2103120"/>
            <a:ext cx="2212848" cy="1965960"/>
          </a:xfrm>
          <a:prstGeom prst="roundRect">
            <a:avLst/>
          </a:prstGeom>
          <a:solidFill>
            <a:srgbClr val="EFF5FB"/>
          </a:solidFill>
          <a:ln>
            <a:solidFill>
              <a:srgbClr val="2C69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0952" y="2331720"/>
            <a:ext cx="19933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12342"/>
                </a:solidFill>
                <a:latin typeface="Aptos"/>
              </a:defRPr>
            </a:pPr>
            <a:r>
              <a:t>03  TRANSFORM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297180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73342"/>
                </a:solidFill>
                <a:latin typeface="Aptos"/>
              </a:defRPr>
            </a:pPr>
            <a:r>
              <a:t>dbt • 6 staging, 2 intermediate, 2 marts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15783" y="27889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F9E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0376" y="2103120"/>
            <a:ext cx="2212848" cy="1965960"/>
          </a:xfrm>
          <a:prstGeom prst="roundRect">
            <a:avLst/>
          </a:prstGeom>
          <a:solidFill>
            <a:srgbClr val="EFF5FB"/>
          </a:solidFill>
          <a:ln>
            <a:solidFill>
              <a:srgbClr val="EE9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0104" y="2331720"/>
            <a:ext cx="19933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12342"/>
                </a:solidFill>
                <a:latin typeface="Aptos"/>
              </a:defRPr>
            </a:pPr>
            <a:r>
              <a:t>04  ORCHESTRATE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297180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73342"/>
                </a:solidFill>
                <a:latin typeface="Aptos"/>
              </a:defRPr>
            </a:pPr>
            <a:r>
              <a:t>Airflow • dbt run → dbt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74936" y="27889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F9E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39528" y="2103120"/>
            <a:ext cx="2212848" cy="1965960"/>
          </a:xfrm>
          <a:prstGeom prst="roundRect">
            <a:avLst/>
          </a:prstGeom>
          <a:solidFill>
            <a:srgbClr val="EFF5FB"/>
          </a:solidFill>
          <a:ln>
            <a:solidFill>
              <a:srgbClr val="2C69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49256" y="2331720"/>
            <a:ext cx="19933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12342"/>
                </a:solidFill>
                <a:latin typeface="Aptos"/>
              </a:defRPr>
            </a:pPr>
            <a:r>
              <a:t>05  CONSUME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5832" y="297180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73342"/>
                </a:solidFill>
                <a:latin typeface="Aptos"/>
              </a:defRPr>
            </a:pPr>
            <a:r>
              <a:t>Streamlit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8006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600" b="0">
                <a:solidFill>
                  <a:srgbClr val="697787"/>
                </a:solidFill>
                <a:latin typeface="Aptos"/>
              </a:defRPr>
            </a:pPr>
            <a:r>
              <a:t>Docker provides the containerized execution environment for the project components.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6235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F9E96"/>
                </a:solidFill>
                <a:latin typeface="Aptos"/>
              </a:defRPr>
            </a:pPr>
            <a:r>
              <a:t>CSV → Snowflake → dbt → Airflow orchestration → Streamlit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2342"/>
                </a:solidFill>
                <a:latin typeface="Aptos"/>
              </a:defRPr>
            </a:pPr>
            <a:r>
              <a:t>Data Warehouse — Snowflake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97787"/>
                </a:solidFill>
                <a:latin typeface="Aptos"/>
              </a:defRPr>
            </a:pPr>
            <a:r>
              <a:t>Raw storage and analytics-ready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822960" cy="54864"/>
          </a:xfrm>
          <a:prstGeom prst="rect">
            <a:avLst/>
          </a:prstGeom>
          <a:solidFill>
            <a:srgbClr val="1F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9778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37560" cy="214884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874519"/>
            <a:ext cx="300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C69BA"/>
                </a:solidFill>
                <a:latin typeface="Aptos"/>
              </a:defRPr>
            </a:pPr>
            <a:r>
              <a:t>RAW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59152"/>
            <a:ext cx="300837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342"/>
                </a:solidFill>
                <a:latin typeface="Aptos"/>
              </a:defRPr>
            </a:pPr>
            <a:r>
              <a:t>Six source tables loaded from e-commerce CSV files.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337560" cy="214884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874519"/>
            <a:ext cx="300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F9E96"/>
                </a:solidFill>
                <a:latin typeface="Aptos"/>
              </a:defRPr>
            </a:pPr>
            <a:r>
              <a:t>TRANSFORMED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2359152"/>
            <a:ext cx="300837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342"/>
                </a:solidFill>
                <a:latin typeface="Aptos"/>
              </a:defRPr>
            </a:pPr>
            <a:r>
              <a:t>dbt models organize data into layers for downstream 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737360"/>
            <a:ext cx="3337560" cy="214884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1874519"/>
            <a:ext cx="300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E973D"/>
                </a:solidFill>
                <a:latin typeface="Aptos"/>
              </a:defRPr>
            </a:pPr>
            <a:r>
              <a:t>ANALYTICS MARTS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359152"/>
            <a:ext cx="300837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342"/>
                </a:solidFill>
                <a:latin typeface="Aptos"/>
              </a:defRPr>
            </a:pPr>
            <a:r>
              <a:t>Final models provide structured data for reporting and dashboard queries.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73342"/>
                </a:solidFill>
                <a:latin typeface="Aptos"/>
              </a:defRPr>
            </a:pPr>
            <a:r>
              <a:t>•  Snowflake acts as the central data warehouse.</a:t>
            </a:r>
          </a:p>
          <a:p>
            <a:pPr>
              <a:spcAft>
                <a:spcPts val="700"/>
              </a:spcAft>
              <a:defRPr sz="1700" b="0">
                <a:solidFill>
                  <a:srgbClr val="273342"/>
                </a:solidFill>
                <a:latin typeface="Aptos"/>
              </a:defRPr>
            </a:pPr>
            <a:r>
              <a:t>•  Evidence includes RAW tables, analytical models, and sample mart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2342"/>
                </a:solidFill>
                <a:latin typeface="Aptos"/>
              </a:defRPr>
            </a:pPr>
            <a:r>
              <a:t>Transformation Layer — dbt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97787"/>
                </a:solidFill>
                <a:latin typeface="Aptos"/>
              </a:defRPr>
            </a:pPr>
            <a:r>
              <a:t>Modular transformations with test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822960" cy="54864"/>
          </a:xfrm>
          <a:prstGeom prst="rect">
            <a:avLst/>
          </a:prstGeom>
          <a:solidFill>
            <a:srgbClr val="1F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9778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383280" cy="205740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011679"/>
            <a:ext cx="3054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C69BA"/>
                </a:solidFill>
                <a:latin typeface="Aptos"/>
              </a:defRPr>
            </a:pPr>
            <a:r>
              <a:t>STAGING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496312"/>
            <a:ext cx="305409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342"/>
                </a:solidFill>
                <a:latin typeface="Aptos"/>
              </a:defRPr>
            </a:pPr>
            <a:r>
              <a:t>6 models</a:t>
            </a:r>
          </a:p>
          <a:p>
            <a:pPr>
              <a:spcAft>
                <a:spcPts val="700"/>
              </a:spcAft>
              <a:defRPr sz="1300" b="0">
                <a:solidFill>
                  <a:srgbClr val="273342"/>
                </a:solidFill>
                <a:latin typeface="Aptos"/>
              </a:defRPr>
            </a:pPr>
            <a:r>
              <a:t>Prepare source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874519"/>
            <a:ext cx="3383280" cy="205740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82312" y="2011679"/>
            <a:ext cx="3054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F9E96"/>
                </a:solidFill>
                <a:latin typeface="Aptos"/>
              </a:defRPr>
            </a:pPr>
            <a:r>
              <a:t>INTERMEDIATE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2496312"/>
            <a:ext cx="305409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342"/>
                </a:solidFill>
                <a:latin typeface="Aptos"/>
              </a:defRPr>
            </a:pPr>
            <a:r>
              <a:t>2 models</a:t>
            </a:r>
          </a:p>
          <a:p>
            <a:pPr>
              <a:spcAft>
                <a:spcPts val="700"/>
              </a:spcAft>
              <a:defRPr sz="1300" b="0">
                <a:solidFill>
                  <a:srgbClr val="273342"/>
                </a:solidFill>
                <a:latin typeface="Aptos"/>
              </a:defRPr>
            </a:pPr>
            <a:r>
              <a:t>Reusable transformation logic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874519"/>
            <a:ext cx="3383280" cy="205740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7072" y="2011679"/>
            <a:ext cx="3054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E973D"/>
                </a:solidFill>
                <a:latin typeface="Aptos"/>
              </a:defRPr>
            </a:pPr>
            <a:r>
              <a:t>MARTS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2496312"/>
            <a:ext cx="305409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342"/>
                </a:solidFill>
                <a:latin typeface="Aptos"/>
              </a:defRPr>
            </a:pPr>
            <a:r>
              <a:t>2 models</a:t>
            </a:r>
          </a:p>
          <a:p>
            <a:pPr>
              <a:spcAft>
                <a:spcPts val="700"/>
              </a:spcAft>
              <a:defRPr sz="1300" b="0">
                <a:solidFill>
                  <a:srgbClr val="273342"/>
                </a:solidFill>
                <a:latin typeface="Aptos"/>
              </a:defRPr>
            </a:pPr>
            <a:r>
              <a:t>Reporting-ready datasets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112342"/>
                </a:solidFill>
                <a:latin typeface="Aptos"/>
              </a:defRPr>
            </a:pPr>
            <a:r>
              <a:t>Total: 10 dbt models built successfully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49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600" b="0">
                <a:solidFill>
                  <a:srgbClr val="697787"/>
                </a:solidFill>
                <a:latin typeface="Aptos"/>
              </a:defRPr>
            </a:pPr>
            <a:r>
              <a:t>Layered models improve clarity, reuse, and maintainability.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2342"/>
                </a:solidFill>
                <a:latin typeface="Aptos"/>
              </a:defRPr>
            </a:pPr>
            <a:r>
              <a:t>Workflow Orchestration — Airflow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97787"/>
                </a:solidFill>
                <a:latin typeface="Aptos"/>
              </a:defRPr>
            </a:pPr>
            <a:r>
              <a:t>Automating transformation and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822960" cy="54864"/>
          </a:xfrm>
          <a:prstGeom prst="rect">
            <a:avLst/>
          </a:prstGeom>
          <a:solidFill>
            <a:srgbClr val="1F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9778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874519"/>
            <a:ext cx="420624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2011679"/>
            <a:ext cx="38770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C69BA"/>
                </a:solidFill>
                <a:latin typeface="Aptos"/>
              </a:defRPr>
            </a:pPr>
            <a:r>
              <a:t>TASK 1 — dbt_run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496312"/>
            <a:ext cx="38770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342"/>
                </a:solidFill>
                <a:latin typeface="Aptos"/>
              </a:defRPr>
            </a:pPr>
            <a:r>
              <a:t>Executes dbt model transformations.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48716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800" b="1">
                <a:solidFill>
                  <a:srgbClr val="1F9E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874519"/>
            <a:ext cx="420624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3992" y="2011679"/>
            <a:ext cx="38770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F9E96"/>
                </a:solidFill>
                <a:latin typeface="Aptos"/>
              </a:defRPr>
            </a:pPr>
            <a:r>
              <a:t>TASK 2 — dbt_test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3992" y="2496312"/>
            <a:ext cx="38770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342"/>
                </a:solidFill>
                <a:latin typeface="Aptos"/>
              </a:defRPr>
            </a:pPr>
            <a:r>
              <a:t>Runs tests after dbt_run succeeds.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10058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73342"/>
                </a:solidFill>
                <a:latin typeface="Aptos"/>
              </a:defRPr>
            </a:pPr>
            <a:r>
              <a:t>•  DAG: funnelvision_dbt_pipeline</a:t>
            </a:r>
          </a:p>
          <a:p>
            <a:pPr>
              <a:spcAft>
                <a:spcPts val="700"/>
              </a:spcAft>
              <a:defRPr sz="1700" b="0">
                <a:solidFill>
                  <a:srgbClr val="273342"/>
                </a:solidFill>
                <a:latin typeface="Aptos"/>
              </a:defRPr>
            </a:pPr>
            <a:r>
              <a:t>•  Recorded run completed successfully in the configured Airflow environment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2342"/>
                </a:solidFill>
                <a:latin typeface="Aptos"/>
              </a:defRPr>
            </a:pPr>
            <a:r>
              <a:t>Analytics Dashboard — Streamlit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97787"/>
                </a:solidFill>
                <a:latin typeface="Aptos"/>
              </a:defRPr>
            </a:pPr>
            <a:r>
              <a:t>Interactive access to key metrics and visual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822960" cy="54864"/>
          </a:xfrm>
          <a:prstGeom prst="rect">
            <a:avLst/>
          </a:prstGeom>
          <a:solidFill>
            <a:srgbClr val="1F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97787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337560" cy="192024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828800"/>
            <a:ext cx="300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C69BA"/>
                </a:solidFill>
                <a:latin typeface="Aptos"/>
              </a:defRPr>
            </a:pPr>
            <a:r>
              <a:t>KPI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13432"/>
            <a:ext cx="300837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342"/>
                </a:solidFill>
                <a:latin typeface="Aptos"/>
              </a:defRPr>
            </a:pPr>
            <a:r>
              <a:t>Four headline indicators provide a quick overview.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91640"/>
            <a:ext cx="3337560" cy="192024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828800"/>
            <a:ext cx="300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F9E96"/>
                </a:solidFill>
                <a:latin typeface="Aptos"/>
              </a:defRPr>
            </a:pPr>
            <a:r>
              <a:t>CHARTS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2313432"/>
            <a:ext cx="300837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342"/>
                </a:solidFill>
                <a:latin typeface="Aptos"/>
              </a:defRPr>
            </a:pPr>
            <a:r>
              <a:t>Visualize patterns in the analytical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691640"/>
            <a:ext cx="3337560" cy="192024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1828800"/>
            <a:ext cx="300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E973D"/>
                </a:solidFill>
                <a:latin typeface="Aptos"/>
              </a:defRPr>
            </a:pPr>
            <a:r>
              <a:t>FILTERS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313432"/>
            <a:ext cx="300837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342"/>
                </a:solidFill>
                <a:latin typeface="Aptos"/>
              </a:defRPr>
            </a:pPr>
            <a:r>
              <a:t>Explore data through interactive filtering.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519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700" b="0">
                <a:solidFill>
                  <a:srgbClr val="697787"/>
                </a:solidFill>
                <a:latin typeface="Aptos"/>
              </a:defRPr>
            </a:pPr>
            <a:r>
              <a:t>Dashboard screenshots are included in the project evidence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12342"/>
                </a:solidFill>
                <a:latin typeface="Aptos"/>
              </a:defRPr>
            </a:pPr>
            <a:r>
              <a:t>Dashboard launched successfully in the configured environment.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2342"/>
                </a:solidFill>
                <a:latin typeface="Aptos"/>
              </a:defRPr>
            </a:pPr>
            <a:r>
              <a:t>Testing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97787"/>
                </a:solidFill>
                <a:latin typeface="Aptos"/>
              </a:defRPr>
            </a:pPr>
            <a:r>
              <a:t>Recorded execution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822960" cy="54864"/>
          </a:xfrm>
          <a:prstGeom prst="rect">
            <a:avLst/>
          </a:prstGeom>
          <a:solidFill>
            <a:srgbClr val="1F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97787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920240"/>
            <a:ext cx="274320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2C69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1284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3600" b="1">
                <a:solidFill>
                  <a:srgbClr val="2C69B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0175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273342"/>
                </a:solidFill>
                <a:latin typeface="Aptos"/>
              </a:defRPr>
            </a:pPr>
            <a:r>
              <a:t>dbt models built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274320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1F9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21284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3600" b="1">
                <a:solidFill>
                  <a:srgbClr val="1F9E9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0175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273342"/>
                </a:solidFill>
                <a:latin typeface="Aptos"/>
              </a:defRPr>
            </a:pPr>
            <a:r>
              <a:t>dbt tests passed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920240"/>
            <a:ext cx="274320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EE9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221284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3600" b="1">
                <a:solidFill>
                  <a:srgbClr val="EE973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0175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273342"/>
                </a:solidFill>
                <a:latin typeface="Aptos"/>
              </a:defRPr>
            </a:pPr>
            <a:r>
              <a:t>test errors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3434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73342"/>
                </a:solidFill>
                <a:latin typeface="Aptos"/>
              </a:defRPr>
            </a:pPr>
            <a:r>
              <a:t>•  Airflow ran dbt_run followed by dbt_test successfully.</a:t>
            </a:r>
          </a:p>
          <a:p>
            <a:pPr>
              <a:spcAft>
                <a:spcPts val="700"/>
              </a:spcAft>
              <a:defRPr sz="1700" b="0">
                <a:solidFill>
                  <a:srgbClr val="273342"/>
                </a:solidFill>
                <a:latin typeface="Aptos"/>
              </a:defRPr>
            </a:pPr>
            <a:r>
              <a:t>•  The Streamlit dashboard was restored and opened successfully.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82DCD6"/>
                </a:solidFill>
                <a:latin typeface="Aptos"/>
              </a:defRPr>
            </a:pPr>
            <a:r>
              <a:t>From raw data to analytics-ready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241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73342"/>
                </a:solidFill>
                <a:latin typeface="Aptos"/>
              </a:defRPr>
            </a:pPr>
            <a:r>
              <a:t>•  Implemented a Snowflake + dbt analytics workflow.</a:t>
            </a:r>
          </a:p>
          <a:p>
            <a:pPr>
              <a:spcAft>
                <a:spcPts val="700"/>
              </a:spcAft>
              <a:defRPr sz="1900" b="0">
                <a:solidFill>
                  <a:srgbClr val="273342"/>
                </a:solidFill>
                <a:latin typeface="Aptos"/>
              </a:defRPr>
            </a:pPr>
            <a:r>
              <a:t>•  Validated models with 11 passing dbt tests.</a:t>
            </a:r>
          </a:p>
          <a:p>
            <a:pPr>
              <a:spcAft>
                <a:spcPts val="700"/>
              </a:spcAft>
              <a:defRPr sz="1900" b="0">
                <a:solidFill>
                  <a:srgbClr val="273342"/>
                </a:solidFill>
                <a:latin typeface="Aptos"/>
              </a:defRPr>
            </a:pPr>
            <a:r>
              <a:t>•  Orchestrated execution with Apache Airflow.</a:t>
            </a:r>
          </a:p>
          <a:p>
            <a:pPr>
              <a:spcAft>
                <a:spcPts val="700"/>
              </a:spcAft>
              <a:defRPr sz="1900" b="0">
                <a:solidFill>
                  <a:srgbClr val="273342"/>
                </a:solidFill>
                <a:latin typeface="Aptos"/>
              </a:defRPr>
            </a:pPr>
            <a:r>
              <a:t>•  Presented analytical outputs in a Streamlit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9788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Thank you  |  Questions?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7FA"/>
                </a:solidFill>
              </a:defRPr>
            </a:pPr>
            <a:r>
              <a:t>Live Dashboard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ECD"/>
                </a:solidFill>
              </a:defRPr>
            </a:pPr>
            <a:r>
              <a:t>Actual Streamlit dashboard screenshots from the implemented project</a:t>
            </a:r>
          </a:p>
        </p:txBody>
      </p:sp>
      <p:pic>
        <p:nvPicPr>
          <p:cNvPr id="4" name="Picture 3" descr="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59727"/>
            <a:ext cx="5577840" cy="1229985"/>
          </a:xfrm>
          <a:prstGeom prst="rect">
            <a:avLst/>
          </a:prstGeom>
        </p:spPr>
      </p:pic>
      <p:pic>
        <p:nvPicPr>
          <p:cNvPr id="5" name="Picture 4" descr="dashboard_cha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247459"/>
            <a:ext cx="5486400" cy="24545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8064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8BDF8"/>
                </a:solidFill>
              </a:defRPr>
            </a:pPr>
            <a:r>
              <a:t>KPI overview and project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58064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8BDF8"/>
                </a:solidFill>
              </a:defRPr>
            </a:pPr>
            <a:r>
              <a:t>Revenue trend, traffic source, and device charts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7FA"/>
                </a:solidFill>
              </a:defRPr>
            </a:pPr>
            <a:r>
              <a:t>Pipeline &amp; Data Validation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ECD"/>
                </a:solidFill>
              </a:defRPr>
            </a:pPr>
            <a:r>
              <a:t>Successful orchestration run and sample analytical data</a:t>
            </a:r>
          </a:p>
        </p:txBody>
      </p:sp>
      <p:pic>
        <p:nvPicPr>
          <p:cNvPr id="4" name="Picture 3" descr="airflow_dag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35144"/>
            <a:ext cx="6949440" cy="3462031"/>
          </a:xfrm>
          <a:prstGeom prst="rect">
            <a:avLst/>
          </a:prstGeom>
        </p:spPr>
      </p:pic>
      <p:pic>
        <p:nvPicPr>
          <p:cNvPr id="5" name="Picture 4" descr="dashboard_charts 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3064338"/>
            <a:ext cx="4023360" cy="10036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989320"/>
            <a:ext cx="6766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8BDF8"/>
                </a:solidFill>
              </a:defRPr>
            </a:pPr>
            <a:r>
              <a:t>Airflow DAG completed successfully: dbt_run and dbt_test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598932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8BDF8"/>
                </a:solidFill>
              </a:defRPr>
            </a:pPr>
            <a:r>
              <a:t>Sales data with revenue, refunds, and estimated profit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7FA"/>
                </a:solidFill>
              </a:defRPr>
            </a:pPr>
            <a:r>
              <a:t>dbt Data Quality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EC8D7"/>
                </a:solidFill>
              </a:defRPr>
            </a:pPr>
            <a:r>
              <a:t>Actual terminal output from the completed dbt test run</a:t>
            </a:r>
          </a:p>
        </p:txBody>
      </p:sp>
      <p:pic>
        <p:nvPicPr>
          <p:cNvPr id="4" name="Picture 3" descr="dbt_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960" y="1234440"/>
            <a:ext cx="10423598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9963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8BDF8"/>
                </a:solidFill>
              </a:defRPr>
            </a:pPr>
            <a:r>
              <a:t>11 of 11 tests passed • 0 warnings • 0 errors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7FA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EC8D7"/>
                </a:solidFill>
              </a:defRPr>
            </a:pPr>
            <a:r>
              <a:t>Project architecture from raw CSV files to business analytics</a:t>
            </a:r>
          </a:p>
        </p:txBody>
      </p:sp>
      <p:pic>
        <p:nvPicPr>
          <p:cNvPr id="4" name="Picture 3" descr="FunnelVision E-Commerce Architecture Diagram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270" y="1143000"/>
            <a:ext cx="7886700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1908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8BDF8"/>
                </a:solidFill>
              </a:defRPr>
            </a:pPr>
            <a:r>
              <a:t>Snowflake → dbt transformations and tests → Airflow orchestration → Streamlit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